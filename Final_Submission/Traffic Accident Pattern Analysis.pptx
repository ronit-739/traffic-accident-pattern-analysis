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86" r:id="rId10"/>
    <p:sldId id="284" r:id="rId11"/>
    <p:sldId id="283" r:id="rId12"/>
    <p:sldId id="263" r:id="rId13"/>
    <p:sldId id="276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9" r:id="rId22"/>
    <p:sldId id="277" r:id="rId23"/>
    <p:sldId id="271" r:id="rId24"/>
    <p:sldId id="272" r:id="rId25"/>
    <p:sldId id="273" r:id="rId26"/>
    <p:sldId id="274" r:id="rId27"/>
    <p:sldId id="275" r:id="rId28"/>
    <p:sldId id="278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C809-9230-656F-2FCF-B2418FFB4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31136-C2B4-8F47-F376-DD817B609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C0843-526F-B8DE-DDAC-3FFFA481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D400B-257C-AF05-C588-40FC5942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4F4E-CD6A-4B20-687E-EB06EA49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0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30D2-AE63-B3C6-DA8C-FBCFA22E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9C05-C6DE-A10C-00EA-D1DAE26FF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15CD2-A1C8-757E-CE2A-D5DE8FB5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BF5D8-709D-F653-C9A6-19EF8B76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9E992-C9B3-2960-A907-8D013F4A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8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0F8F-30FB-ACA6-8610-09099D48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CD2CB-576E-0D65-0CBA-DF8B77B8D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04A5D-B1FD-9F6E-638A-9159C54F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1A48-62BF-C467-321F-BA80B05B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CE9D2-87DD-2205-7F71-14C09A50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7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9744-586A-4750-38AA-DC954D04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6034-772B-A993-C015-5AB42CC09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9B10E-4C6C-C76F-5CD5-A55B6D0AE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29079-7A22-59F3-59BE-345278A5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98186-20D7-3754-AC47-91D5A80F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1002-733C-A699-DCEF-431A3D3F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1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6C13-374B-3B60-2E6F-C032A046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6C689-8440-C1B3-9E53-029647B9F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FD040-A951-685E-2EBE-BB4C23E67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7049B-BF26-376F-DB91-319F4F5EE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F14E9-A456-9D30-43C5-44A191B9C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E1D96-9CAE-8DBD-EDE5-90714A3C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11B8E-6923-F1C2-043D-774F441F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F94E0-3E20-3D32-5F46-FE932109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0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8248F-9C6E-996C-9CC5-A018B48B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4BF03-579D-2E17-A24C-5B9894D3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EAFB1-ADBF-9887-547B-33FC95F7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B3F85-C0D7-2ED6-6CBA-9DD68AEE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3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78E89-7BA7-6A44-80D9-14EB22C8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F4A3F-8820-4F96-EBE0-6E3AB940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2E8DA-419C-41F3-9207-E398560F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F35F-99C9-AF2C-82D3-0A3BFDEA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11631-923B-08D8-D4BC-9E78B576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6A52D-6FFB-26C0-4457-FE5AEF06A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44D8C-96C6-100D-EA7F-1A8B220A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B5F1A-9EB9-389F-928D-08292025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344DF-18E9-2A1D-D0FE-CEAADAE5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4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B9DD-132F-321B-B7BC-421D7B96C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6EC0B-7B2B-410D-5D8D-D3C468BBF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31C90-526E-0E7E-2FAD-4B6387885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4A443-8030-9DD0-CBE2-7DCDFFE1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0D39A-EAD8-7F85-C469-FF0A8E29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C58B5-A085-52BC-1B34-59730EF6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0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F7BE-043C-17BA-5AA8-780344A9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B4EAD-E38B-27FB-4E31-877C5E4A3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B2843-DF06-E3FA-C350-A47E6DB3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D2858-13A0-AF01-87C3-64923B56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F5422-4E39-1D1D-543B-477ADBAF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7CECD0-CFA5-E90A-6FE4-4424B3EE7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0AD5E-B82B-85E7-E751-4DCA725B2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AFF04-2B1C-AA26-653E-2A3CE509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5752-179D-4298-12C2-A035A0F2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43ABC-A30F-EE04-CA10-1F668632E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FBAB8-F053-70D7-6218-12255E8A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776DF-8CBD-EF18-5FD6-2F3BF144C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361B3-76A5-D3BF-19E0-6D5D3F934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D7279-828A-44EB-823C-0EA19C335D3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B0896-7676-E356-F2B2-0A08D430F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45126-B88F-AA8A-E6F1-63F73B398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2BF17-6EBB-45ED-8BC7-4D9FD0D23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03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314D-CA0B-737C-EF5E-088324E8F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4339" y="328840"/>
            <a:ext cx="9144000" cy="180170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Traffic Accident Pattern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7F0AB-AEAE-F59E-FF43-A1DA41207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9735" y="2130547"/>
            <a:ext cx="9318604" cy="439861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Members                                                            Roll No.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Dikesh Manandhar                                                THA081BCT031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Riki Karn                                                                THA081BCT030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Ronit Shrestha                                                       THA081BCT031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Under the supervision of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Er. Suwarna Lingden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 of Electronics and Computer Engineering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IOE, Thapathali Campus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March 17, 2026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24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7481-9A55-91BA-72A2-9E229DF6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A1BF-6330-CC0B-9ADC-4B2390A5B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255" y="328840"/>
            <a:ext cx="9144000" cy="950676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FB7B0-7840-AF88-BC22-A9CD73383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255" y="1504741"/>
            <a:ext cx="9318604" cy="4905891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Mathematical Overview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Cleaning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DBSCAN Results and KDE heatmaps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Moran's I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Cross Validation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Conclusions &amp; Policy Recommendations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8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B212-B86B-56AC-23E8-B9C40A50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E584-7E76-6FDA-671A-828FAE735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84688-2BC6-B3B4-B0D8-ADC9D2F21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472267"/>
            <a:ext cx="10363200" cy="405689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traffic accident is an unplanned event involving one or more vehicles that results in damage, injury, or death.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Daily Average: About 65–75 road accidents occur every day in Nepal, resulting in roughly 7 people killed and around 80 injured daily according to recent Nepal Police reports.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62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E9EC-7D9A-9F4A-099E-C978814CB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AD1A-7891-7A48-C948-3E72EBF7A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5DE1B-B5E0-7536-99C7-0CBF19D9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065867"/>
            <a:ext cx="10363200" cy="446329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Nepal has highest traffic accident rates per capita in South Asia, with thousands of deaths and injuries annually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Despite this there is not so much study carried out related to this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Most official reports provide counts and locations, but do not analyze patterns, clusters, or risk factors in depth.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4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470F0-6E9A-3CF2-114C-BB3FCC2F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3EBA-9A03-680E-60CC-531E48007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1FBB5-38B8-9526-8940-1CFB3CF08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065867"/>
            <a:ext cx="10363200" cy="446329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Understand Spatial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Validate Methods Statistically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Enable Evidence-Based Policy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Help stakeholders prioritize safety measures, road improvements, and awareness campaigns.</a:t>
            </a:r>
          </a:p>
        </p:txBody>
      </p:sp>
    </p:spTree>
    <p:extLst>
      <p:ext uri="{BB962C8B-B14F-4D97-AF65-F5344CB8AC3E}">
        <p14:creationId xmlns:p14="http://schemas.microsoft.com/office/powerpoint/2010/main" val="422424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D566-C387-8BE7-1595-FF5722D0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F3B0-5F44-0FC5-1958-B3D063B82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F23C3-3127-0516-FF88-8F4C142EDA78}"/>
              </a:ext>
            </a:extLst>
          </p:cNvPr>
          <p:cNvSpPr/>
          <p:nvPr/>
        </p:nvSpPr>
        <p:spPr>
          <a:xfrm>
            <a:off x="1389700" y="2218946"/>
            <a:ext cx="2312276" cy="1190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CF3F64-D0A9-7025-5CE0-C08189A42B38}"/>
              </a:ext>
            </a:extLst>
          </p:cNvPr>
          <p:cNvSpPr/>
          <p:nvPr/>
        </p:nvSpPr>
        <p:spPr>
          <a:xfrm>
            <a:off x="564054" y="1990346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35B0B7-93D9-3142-CA96-C9CEF7A22C1A}"/>
              </a:ext>
            </a:extLst>
          </p:cNvPr>
          <p:cNvSpPr/>
          <p:nvPr/>
        </p:nvSpPr>
        <p:spPr>
          <a:xfrm>
            <a:off x="6352724" y="1959298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5D1162-D781-DD55-CEAF-E96F69CDB830}"/>
              </a:ext>
            </a:extLst>
          </p:cNvPr>
          <p:cNvSpPr/>
          <p:nvPr/>
        </p:nvSpPr>
        <p:spPr>
          <a:xfrm>
            <a:off x="3482427" y="1964945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Preprocessing and Cleaning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BE8D04-C999-B951-81FF-4E166EA99F4F}"/>
              </a:ext>
            </a:extLst>
          </p:cNvPr>
          <p:cNvSpPr/>
          <p:nvPr/>
        </p:nvSpPr>
        <p:spPr>
          <a:xfrm>
            <a:off x="6366544" y="4299956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Morans' I index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FBF4CC-CDF0-78D3-018F-F4A7A836636B}"/>
              </a:ext>
            </a:extLst>
          </p:cNvPr>
          <p:cNvSpPr/>
          <p:nvPr/>
        </p:nvSpPr>
        <p:spPr>
          <a:xfrm>
            <a:off x="9312946" y="4266091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KDE Heatmap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856CAD-A7CE-1F00-CA50-F12F4BFD70EB}"/>
              </a:ext>
            </a:extLst>
          </p:cNvPr>
          <p:cNvSpPr/>
          <p:nvPr/>
        </p:nvSpPr>
        <p:spPr>
          <a:xfrm>
            <a:off x="9279466" y="1959298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DBSCAN Clustering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F7B411-0BBC-2F19-1AF8-7AF7662B8E77}"/>
              </a:ext>
            </a:extLst>
          </p:cNvPr>
          <p:cNvSpPr/>
          <p:nvPr/>
        </p:nvSpPr>
        <p:spPr>
          <a:xfrm>
            <a:off x="3482427" y="4250052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49A68E-733A-1BDA-5158-3B97D74E17CA}"/>
              </a:ext>
            </a:extLst>
          </p:cNvPr>
          <p:cNvSpPr/>
          <p:nvPr/>
        </p:nvSpPr>
        <p:spPr>
          <a:xfrm>
            <a:off x="536025" y="4266091"/>
            <a:ext cx="2404924" cy="11902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 and Conclusion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A0B9252-6CB1-BD0E-55A6-C4C1F770F7CE}"/>
              </a:ext>
            </a:extLst>
          </p:cNvPr>
          <p:cNvSpPr/>
          <p:nvPr/>
        </p:nvSpPr>
        <p:spPr>
          <a:xfrm rot="10800000">
            <a:off x="5904478" y="4676695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4CF9ED14-3657-34B8-435C-D7E04A09FDD6}"/>
              </a:ext>
            </a:extLst>
          </p:cNvPr>
          <p:cNvSpPr/>
          <p:nvPr/>
        </p:nvSpPr>
        <p:spPr>
          <a:xfrm rot="10800000">
            <a:off x="8788595" y="4632413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4C9A24C-062C-4369-6439-6477BF3B712F}"/>
              </a:ext>
            </a:extLst>
          </p:cNvPr>
          <p:cNvSpPr/>
          <p:nvPr/>
        </p:nvSpPr>
        <p:spPr>
          <a:xfrm rot="10800000">
            <a:off x="2985715" y="4710560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C4BAF17D-4176-A37C-3003-FE090010AC5F}"/>
              </a:ext>
            </a:extLst>
          </p:cNvPr>
          <p:cNvSpPr/>
          <p:nvPr/>
        </p:nvSpPr>
        <p:spPr>
          <a:xfrm>
            <a:off x="3017052" y="2400950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EFA2F8A-E36D-E903-E252-406765F1017E}"/>
              </a:ext>
            </a:extLst>
          </p:cNvPr>
          <p:cNvSpPr/>
          <p:nvPr/>
        </p:nvSpPr>
        <p:spPr>
          <a:xfrm>
            <a:off x="5935424" y="2400950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FA23D6C-7B80-421B-CCB7-CA4C14419E3F}"/>
              </a:ext>
            </a:extLst>
          </p:cNvPr>
          <p:cNvSpPr/>
          <p:nvPr/>
        </p:nvSpPr>
        <p:spPr>
          <a:xfrm>
            <a:off x="8853796" y="2400950"/>
            <a:ext cx="417300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1B4DFE3-BDDB-BAFF-6FE8-C9D5D9C32E4E}"/>
              </a:ext>
            </a:extLst>
          </p:cNvPr>
          <p:cNvSpPr/>
          <p:nvPr/>
        </p:nvSpPr>
        <p:spPr>
          <a:xfrm rot="5400000">
            <a:off x="10075140" y="3518215"/>
            <a:ext cx="880533" cy="36908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47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68AD-181E-C45C-5044-FAD907D3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60DA-F800-6179-1C99-3D1EE853B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Mathematical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F18F3-ADD5-845D-9B88-38EB73846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024743"/>
            <a:ext cx="10363200" cy="45044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DBSCAN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DBSCAN is a density-based clustering algorithm.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groups closely packed points and labels isolated points as noise (outliers).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Useful for spatial data, accident hotspots, and irregular cluster shapes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ε (Epsilon):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Radius that defines the neighborhood distance around a point.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 = { q ∈ D |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p,q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≤ ε }</a:t>
            </a:r>
          </a:p>
        </p:txBody>
      </p:sp>
    </p:spTree>
    <p:extLst>
      <p:ext uri="{BB962C8B-B14F-4D97-AF65-F5344CB8AC3E}">
        <p14:creationId xmlns:p14="http://schemas.microsoft.com/office/powerpoint/2010/main" val="78851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4AAD-DEFA-C172-F5D7-80D036E5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DF6BA1-CD8F-DFDC-4B4A-01BDEB457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" y="1077686"/>
            <a:ext cx="10745007" cy="5451475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MinPts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Minimum number of points required to form a dense region.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Condition: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(p)| ≥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MinPts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Core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Point: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point with enough neighbors.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(p)| ≥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MinPts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Border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Point: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 core point but lies within the ε-neighborhood of a core point.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(p)| &lt;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MinPts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but </a:t>
            </a:r>
            <a:r>
              <a:rPr lang="en-US" sz="3200" dirty="0"/>
              <a:t>p ∈ N</a:t>
            </a:r>
            <a:r>
              <a:rPr lang="el-GR" sz="3200" dirty="0"/>
              <a:t>ε(</a:t>
            </a:r>
            <a:r>
              <a:rPr lang="en-US" sz="3200" dirty="0"/>
              <a:t>core)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4425-10E5-1F21-A33E-F57BF12D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774A94-DF3E-E3D8-402B-AD04E32EF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387928"/>
            <a:ext cx="10363200" cy="4504418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DENSITY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REACHABILITY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:Point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q is directly density-reachable from p if: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q ∈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 and |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Nε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(p)| ≥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MinPts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DENSITY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:Two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points p and q are density-connected if there exists a point o such that both are density-reachable from 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 → o → q</a:t>
            </a:r>
          </a:p>
        </p:txBody>
      </p:sp>
    </p:spTree>
    <p:extLst>
      <p:ext uri="{BB962C8B-B14F-4D97-AF65-F5344CB8AC3E}">
        <p14:creationId xmlns:p14="http://schemas.microsoft.com/office/powerpoint/2010/main" val="353252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8665-2D85-0367-7A95-556B931E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1A7B23-CC0E-071E-ADA3-8E0905F2F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414" y="849086"/>
            <a:ext cx="10434764" cy="5680075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Kernel Density Estimation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estimate the probability density function (PDF) of data and  Produces a continuous density surface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Where, n = total number of data points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 = bandwidth (smoothing parameter)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 = kernel function  (gaussian kernel)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xi = observed data points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f(x) = estimated density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A8A18-7E4C-2FF3-0530-B717DC4D0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1" y="2638231"/>
            <a:ext cx="6414082" cy="10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0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FF09-2CB4-E5EE-AA34-6FA06405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566F77-C4B1-D71E-B1A4-D811572EE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414" y="244929"/>
            <a:ext cx="10287000" cy="5388428"/>
          </a:xfrm>
        </p:spPr>
        <p:txBody>
          <a:bodyPr>
            <a:normAutofit/>
          </a:bodyPr>
          <a:lstStyle/>
          <a:p>
            <a:pPr algn="just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Moran’s I index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global Moran’s I is used to examine whether the crash locations and attributes exhibit any regularity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i.e. whether they are spatially clustered, dispersed or random.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A8270-A482-90EA-B7E6-66D56D15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28" y="3429000"/>
            <a:ext cx="7533653" cy="1404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44B09E-B134-BF5B-AD36-B454DA24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28" y="5102739"/>
            <a:ext cx="2602281" cy="1249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93FC4-4FEC-3CD7-F229-5EEBB30C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981" y="4906735"/>
            <a:ext cx="3199865" cy="14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5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8941-CFDB-7E9B-63DA-F6BF7933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1F5C-CED3-1496-33BA-FF41082AC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6578" y="180622"/>
            <a:ext cx="9144000" cy="1055325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CF32F-B482-EA71-FB22-6D48D84E8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28" y="1633154"/>
            <a:ext cx="11288700" cy="2536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7AF8F6-1C55-510A-7765-2BF3BAACB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28" y="4320792"/>
            <a:ext cx="11288700" cy="228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7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22EB-CAD0-931E-D4AC-EAC8C865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92C1-F4B4-54AC-766E-DD5BEF6D2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6578" y="180623"/>
            <a:ext cx="9144000" cy="1135712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F5518-25F8-3131-F7BA-772534FA6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065867"/>
            <a:ext cx="10363200" cy="446329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Removed whitespace from all text columns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Checked duplicates: 0 fully duplicate rows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Checked Null Values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Validated coordinates: All within Nepal bounds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Checked numeric columns: No negative values found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Checked categorical Intigrity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Logically sorted the data both column and row wise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087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81120-F48C-86F7-BFBD-86D5F164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DEEE7-3E50-F847-2D1C-2B20A0DA4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9F499-A617-7F5A-BBCC-E5E2D8A94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1156" y="1761068"/>
            <a:ext cx="10239021" cy="4768094"/>
          </a:xfrm>
        </p:spPr>
        <p:txBody>
          <a:bodyPr>
            <a:normAutofit fontScale="92500" lnSpcReduction="10000"/>
          </a:bodyPr>
          <a:lstStyle/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Severity Score Creation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Combines: Fatalities (3× weight) + Injuries (1× weight)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Normalized 0–1 for comparison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Interpretation: 0 = no harm, 1 = worst accident in dataset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Risk Score Creation: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Weighted combination: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40% Severity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20% High-Risk Road (Hill Road, Ring Road)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20% Bad Weather (Rainy, Foggy)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20% High-Risk Cause (Drunk Driving, Over speeding, Road Condition)</a:t>
            </a:r>
          </a:p>
        </p:txBody>
      </p:sp>
    </p:spTree>
    <p:extLst>
      <p:ext uri="{BB962C8B-B14F-4D97-AF65-F5344CB8AC3E}">
        <p14:creationId xmlns:p14="http://schemas.microsoft.com/office/powerpoint/2010/main" val="4411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6862-FC03-35A8-5306-431AFC82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0EA0-6ACF-88B6-CE2B-60013EF1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DBSCAN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E74C0-0765-08D1-D1E1-431754F77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45" t="12330" r="10772" b="13693"/>
          <a:stretch>
            <a:fillRect/>
          </a:stretch>
        </p:blipFill>
        <p:spPr>
          <a:xfrm>
            <a:off x="5796134" y="2212259"/>
            <a:ext cx="6277879" cy="3760113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AB4F786-79FD-6CDD-9138-BD01303B6B78}"/>
              </a:ext>
            </a:extLst>
          </p:cNvPr>
          <p:cNvSpPr txBox="1">
            <a:spLocks/>
          </p:cNvSpPr>
          <p:nvPr/>
        </p:nvSpPr>
        <p:spPr>
          <a:xfrm>
            <a:off x="826911" y="1860011"/>
            <a:ext cx="5427133" cy="42753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Where Are the Hotspots?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(According to Accident Frequency)</a:t>
            </a:r>
          </a:p>
          <a:p>
            <a:pPr algn="l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Color-&gt;Cluster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Black-&gt;Noise</a:t>
            </a:r>
          </a:p>
          <a:p>
            <a:pPr algn="l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Bagmati Province (red) is the most dense -&gt;highest risk zone near Kathmandu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Terai belt (Lumbini, Madhesh, Koshi) shows multiple clusters along highway corridors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881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46A6-FA5C-3535-6B0E-FE53EC81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F153-EF74-057B-78BD-D14D120E5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99851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KDE Heatmap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C0F1C-5FC0-4A8E-AC7F-987CCC58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66" y="1750505"/>
            <a:ext cx="5000434" cy="3380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190BB-4804-763C-571D-B24F9348E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064" y="1727123"/>
            <a:ext cx="5482296" cy="340375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7C2AED29-2840-E107-1DF6-4EB64CC55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6064" y="5437994"/>
            <a:ext cx="4864113" cy="1091167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Combine cluster with KDE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DBSCAN clusters align perfectly with high-risk KDE zones — validating both methods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E83771D-6692-BA6D-4590-628C62BE07E2}"/>
              </a:ext>
            </a:extLst>
          </p:cNvPr>
          <p:cNvSpPr txBox="1">
            <a:spLocks/>
          </p:cNvSpPr>
          <p:nvPr/>
        </p:nvSpPr>
        <p:spPr>
          <a:xfrm>
            <a:off x="820262" y="5437994"/>
            <a:ext cx="5138086" cy="109116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 strong east-west hotspot band runs along the Terai highway corridor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Karnali and mountain regions remain cool — low severity activity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18E93-A6B0-181C-4B48-A45776F912BD}"/>
              </a:ext>
            </a:extLst>
          </p:cNvPr>
          <p:cNvSpPr txBox="1"/>
          <p:nvPr/>
        </p:nvSpPr>
        <p:spPr>
          <a:xfrm>
            <a:off x="4257368" y="2046582"/>
            <a:ext cx="183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Severity Based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42FBD-4C2E-F096-8E74-1A825E58C14C}"/>
              </a:ext>
            </a:extLst>
          </p:cNvPr>
          <p:cNvSpPr txBox="1"/>
          <p:nvPr/>
        </p:nvSpPr>
        <p:spPr>
          <a:xfrm>
            <a:off x="9994490" y="2046582"/>
            <a:ext cx="183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Risk Based</a:t>
            </a:r>
          </a:p>
        </p:txBody>
      </p:sp>
    </p:spTree>
    <p:extLst>
      <p:ext uri="{BB962C8B-B14F-4D97-AF65-F5344CB8AC3E}">
        <p14:creationId xmlns:p14="http://schemas.microsoft.com/office/powerpoint/2010/main" val="1019179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45C0-3758-0190-2870-8A6D21EB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FBE9-B4E5-72AD-C4C9-F71DAE1F6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Moran's I index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04C33A-AD48-00E0-1FA2-910E4749A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90902"/>
              </p:ext>
            </p:extLst>
          </p:nvPr>
        </p:nvGraphicFramePr>
        <p:xfrm>
          <a:off x="6096000" y="2065867"/>
          <a:ext cx="5633882" cy="29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806">
                  <a:extLst>
                    <a:ext uri="{9D8B030D-6E8A-4147-A177-3AD203B41FA5}">
                      <a16:colId xmlns:a16="http://schemas.microsoft.com/office/drawing/2014/main" val="450511906"/>
                    </a:ext>
                  </a:extLst>
                </a:gridCol>
                <a:gridCol w="1852116">
                  <a:extLst>
                    <a:ext uri="{9D8B030D-6E8A-4147-A177-3AD203B41FA5}">
                      <a16:colId xmlns:a16="http://schemas.microsoft.com/office/drawing/2014/main" val="32896975"/>
                    </a:ext>
                  </a:extLst>
                </a:gridCol>
                <a:gridCol w="1877960">
                  <a:extLst>
                    <a:ext uri="{9D8B030D-6E8A-4147-A177-3AD203B41FA5}">
                      <a16:colId xmlns:a16="http://schemas.microsoft.com/office/drawing/2014/main" val="2568326814"/>
                    </a:ext>
                  </a:extLst>
                </a:gridCol>
              </a:tblGrid>
              <a:tr h="44071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467951"/>
                  </a:ext>
                </a:extLst>
              </a:tr>
              <a:tr h="440710">
                <a:tc>
                  <a:txBody>
                    <a:bodyPr/>
                    <a:lstStyle/>
                    <a:p>
                      <a:r>
                        <a:rPr lang="en-US" dirty="0"/>
                        <a:t>Moran’s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191818"/>
                  </a:ext>
                </a:extLst>
              </a:tr>
              <a:tr h="440710"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194248"/>
                  </a:ext>
                </a:extLst>
              </a:tr>
              <a:tr h="440710">
                <a:tc>
                  <a:txBody>
                    <a:bodyPr/>
                    <a:lstStyle/>
                    <a:p>
                      <a:r>
                        <a:rPr lang="en-US" dirty="0"/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9.742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83849"/>
                  </a:ext>
                </a:extLst>
              </a:tr>
              <a:tr h="1172461">
                <a:tc>
                  <a:txBody>
                    <a:bodyPr/>
                    <a:lstStyle/>
                    <a:p>
                      <a:r>
                        <a:rPr lang="en-US" dirty="0"/>
                        <a:t>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Significant positive spatial autocorrelation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Significant positive spatial autocorrelation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792449"/>
                  </a:ext>
                </a:extLst>
              </a:tr>
            </a:tbl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07D6D7D7-07B0-E429-DE02-53145B2BC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8" y="2065867"/>
            <a:ext cx="5056366" cy="3163859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Measures whether similar values cluster together in space or are randomly spread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+1  clustered,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0 = random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-1= dispersed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37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C414-C13F-006A-84E9-4288102C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51D1-7577-B277-B4A3-8944D7C7F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069E8-487E-2455-007B-C30C9F66E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973179"/>
            <a:ext cx="10363200" cy="455598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Severity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Moran's I is nearly 0 -&gt;severity is almost randomly distributed across Nepal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Statistically significant only due to large sample size (n = 5000), not strong clustering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Risk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Shows weak but consistent spatial clustering -&gt; high risk zones tend to be near each other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Highly significant (p = 0.001, z = 9.74) -&gt; clustering is real but modest in magnitude</a:t>
            </a:r>
          </a:p>
        </p:txBody>
      </p:sp>
    </p:spTree>
    <p:extLst>
      <p:ext uri="{BB962C8B-B14F-4D97-AF65-F5344CB8AC3E}">
        <p14:creationId xmlns:p14="http://schemas.microsoft.com/office/powerpoint/2010/main" val="73863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82CE-3F53-85A6-D878-1560DF46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7C845-10A8-8F0C-16AD-EB584938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Findings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C2232-062E-20F8-76DE-F8B6D4C3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978" y="2343150"/>
            <a:ext cx="10363200" cy="4186010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Geographic and Spatial Analysis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Accident Characteristic and Cause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Vehicle Distribution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Human Impact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Environment Impact</a:t>
            </a:r>
          </a:p>
        </p:txBody>
      </p:sp>
    </p:spTree>
    <p:extLst>
      <p:ext uri="{BB962C8B-B14F-4D97-AF65-F5344CB8AC3E}">
        <p14:creationId xmlns:p14="http://schemas.microsoft.com/office/powerpoint/2010/main" val="3565847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31D5A-08EA-3C6F-AD22-AB64D3B2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8DD6-87B0-E515-CE85-AB38A79F9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890" y="182880"/>
            <a:ext cx="10584180" cy="1200150"/>
          </a:xfrm>
        </p:spPr>
        <p:txBody>
          <a:bodyPr>
            <a:normAutofit/>
          </a:bodyPr>
          <a:lstStyle/>
          <a:p>
            <a:pPr algn="just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Geographic and Spatial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1B54F-C2A6-EA0C-BFFF-AA63DEAD8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" y="1831990"/>
            <a:ext cx="11950072" cy="423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24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7DA59-7AEE-1704-BFE1-2B3EF2B4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BBA4-F969-5B1C-E37D-FC296169C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890" y="182880"/>
            <a:ext cx="10584180" cy="1200150"/>
          </a:xfrm>
        </p:spPr>
        <p:txBody>
          <a:bodyPr>
            <a:normAutofit/>
          </a:bodyPr>
          <a:lstStyle/>
          <a:p>
            <a:pPr algn="just"/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Geographic and Spatial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1061C-378E-4F69-034D-A46282435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67" y="2449565"/>
            <a:ext cx="11451265" cy="33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22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8253-DDA5-73EF-5AE9-6D86A237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37CF-2546-A3BE-6CD3-197829858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890" y="182880"/>
            <a:ext cx="10584180" cy="1200150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  Correlation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330AF-FF8F-041F-3E91-4D8C65FF6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736" y="1810059"/>
            <a:ext cx="6056527" cy="486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87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8ACE3-7EF4-6328-806F-1A45F43F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0D62-4E1C-494E-96C8-4151537E1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0347"/>
            <a:ext cx="9144000" cy="11145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Accident Characteristic and Causes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60944-CC55-4562-E332-12A93A6F7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72" y="2447348"/>
            <a:ext cx="11128455" cy="396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3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AAB1-8D73-9129-2056-753A516D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3F85-E1E5-C111-6316-0F20F5411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Vehicle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A131B-F8EA-9FD5-7256-C6821E179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7" y="1885950"/>
            <a:ext cx="10594294" cy="464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0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542D1-6934-9FD9-B874-7A5194E2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974-D187-0C37-8DC3-702AEB2F8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Temporal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71B0D-B19E-BBA7-4172-047F0D45D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19" y="2366010"/>
            <a:ext cx="11612761" cy="359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61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F7A1-0908-1FFA-1E96-B9437C27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E436-F3A5-452F-9DF3-7702EACFD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6825"/>
            <a:ext cx="9144000" cy="111454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Human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BAD78-6C72-3FA9-B510-9147093FF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70" y="1920240"/>
            <a:ext cx="10364028" cy="404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90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10BA-BB31-1D21-0601-2F1CD202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1CF9-6D04-752A-98F9-071C9810D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Environmental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519C2-BB40-76E0-850C-0CA84096F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37" y="2011680"/>
            <a:ext cx="10145148" cy="43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77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E2DF-27A9-9FFA-A918-B7D027AEB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4B9A-7972-F53F-6193-EBA84BC2E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Cross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ABF5B-8AF6-54ED-343C-3C38334C0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148840"/>
            <a:ext cx="10363200" cy="418601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Overall score of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0.7027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confirms strong cluster separation ,above the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benchmark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out of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clusters score above 0.55, proving DBSCAN parameters were well tuned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Clusters 0 and 6 score above 0.90 ,near perfect separation in those regions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Weak scores in Cluster 2 and 4 reflect genuine geographic overlap, not model error</a:t>
            </a:r>
          </a:p>
        </p:txBody>
      </p:sp>
    </p:spTree>
    <p:extLst>
      <p:ext uri="{BB962C8B-B14F-4D97-AF65-F5344CB8AC3E}">
        <p14:creationId xmlns:p14="http://schemas.microsoft.com/office/powerpoint/2010/main" val="459935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35BD-1E19-C97D-DCE2-60AEE829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9F0E-D317-C60F-8856-DACB71364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840"/>
            <a:ext cx="9144000" cy="1114547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 and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CE142-3370-7A50-11F9-B3CDF7B48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588770"/>
            <a:ext cx="10363200" cy="5269230"/>
          </a:xfrm>
        </p:spPr>
        <p:txBody>
          <a:bodyPr>
            <a:normAutofit fontScale="85000" lnSpcReduction="10000"/>
          </a:bodyPr>
          <a:lstStyle/>
          <a:p>
            <a:pPr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9 accident clusters found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mostly along Terai highway and Kathmandu valley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Bagmati Province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the highest accident severity and risk in Nepal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Risk scores cluster weakly but significantly : accidents are not by chance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DBSCAN clustering validated with 0.70 silhouette score that means results are reliable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urban centers and highways are most dangerous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Three methods together (DBSCAN + KDE + Moran's I) give stronger and trusted results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Northern hilly and mountain regions are comparatively safer than Terai and Bagmati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science can effectively identify where and why accidents happen in Nepal</a:t>
            </a:r>
          </a:p>
        </p:txBody>
      </p:sp>
    </p:spTree>
    <p:extLst>
      <p:ext uri="{BB962C8B-B14F-4D97-AF65-F5344CB8AC3E}">
        <p14:creationId xmlns:p14="http://schemas.microsoft.com/office/powerpoint/2010/main" val="88624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B8A8-944B-9BB5-7D23-7FDE8A4C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D8F4-DBFD-AF48-32D0-C51746680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62890"/>
            <a:ext cx="9753600" cy="12147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Ethics and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8EADB-2BB0-99B1-5B5D-10B9702BD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588770"/>
            <a:ext cx="10363200" cy="526923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Ethics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data used is anonymized ,no personal identity of victims is revealed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Study is purely for public safety improvement, not surveillance or profiling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Findings should not be used to discriminate against any region or community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Fix roads and infrastructure at top hotspot clusters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Bagmati, Koshi, Lumbini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 speed cameras and traffic police at identified high risk junctions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 street lighting and signage in night accident prone clusters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Place ambulances and hospitals closer to high fatality cluster zones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awareness drives in top accident districts like Kathmandu, Biratnagar, Butwal</a:t>
            </a:r>
          </a:p>
        </p:txBody>
      </p:sp>
    </p:spTree>
    <p:extLst>
      <p:ext uri="{BB962C8B-B14F-4D97-AF65-F5344CB8AC3E}">
        <p14:creationId xmlns:p14="http://schemas.microsoft.com/office/powerpoint/2010/main" val="261080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1152</Words>
  <Application>Microsoft Office PowerPoint</Application>
  <PresentationFormat>Widescreen</PresentationFormat>
  <Paragraphs>211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Traffic Accident Pattern Analysis</vt:lpstr>
      <vt:lpstr>Outline</vt:lpstr>
      <vt:lpstr>Introduction</vt:lpstr>
      <vt:lpstr>Problem Statement</vt:lpstr>
      <vt:lpstr>Objective</vt:lpstr>
      <vt:lpstr>Methodology</vt:lpstr>
      <vt:lpstr>Mathematical Overview</vt:lpstr>
      <vt:lpstr>PowerPoint Presentation</vt:lpstr>
      <vt:lpstr>PowerPoint Presentation</vt:lpstr>
      <vt:lpstr>PowerPoint Presentation</vt:lpstr>
      <vt:lpstr>PowerPoint Presentation</vt:lpstr>
      <vt:lpstr>Dataset</vt:lpstr>
      <vt:lpstr>Data Cleaning</vt:lpstr>
      <vt:lpstr>Feature Engineering</vt:lpstr>
      <vt:lpstr>DBSCAN Results</vt:lpstr>
      <vt:lpstr>KDE Heatmap </vt:lpstr>
      <vt:lpstr>Moran's I index</vt:lpstr>
      <vt:lpstr>Interpretation</vt:lpstr>
      <vt:lpstr>Key Findings and Analysis</vt:lpstr>
      <vt:lpstr>Geographic and Spatial Analysis</vt:lpstr>
      <vt:lpstr>Geographic and Spatial Analysis</vt:lpstr>
      <vt:lpstr>   Correlation Matrix</vt:lpstr>
      <vt:lpstr>Accident Characteristic and Causes</vt:lpstr>
      <vt:lpstr>Vehicle Distribution</vt:lpstr>
      <vt:lpstr>Temporal Pattern</vt:lpstr>
      <vt:lpstr>Human Impact</vt:lpstr>
      <vt:lpstr>Environmental Impact</vt:lpstr>
      <vt:lpstr>Cross Validation</vt:lpstr>
      <vt:lpstr>Result and Conclusion</vt:lpstr>
      <vt:lpstr>Ethics and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Ronit Shrestha</dc:creator>
  <cp:lastModifiedBy>Ronit Shrestha</cp:lastModifiedBy>
  <cp:revision>7</cp:revision>
  <dcterms:created xsi:type="dcterms:W3CDTF">2026-03-16T15:14:56Z</dcterms:created>
  <dcterms:modified xsi:type="dcterms:W3CDTF">2026-03-17T02:25:45Z</dcterms:modified>
</cp:coreProperties>
</file>